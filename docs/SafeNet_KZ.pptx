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ткрытие" id="{1817f348-94ab-cb96-9f48-3e662409c010}">
          <p14:sldIdLst>
            <p14:sldId id="256"/>
          </p14:sldIdLst>
        </p14:section>
        <p14:section name="Проблема" id="{fd578648-eba4-eec6-c0be-56c37a56d2c6}">
          <p14:sldIdLst>
            <p14:sldId id="257"/>
          </p14:sldIdLst>
        </p14:section>
        <p14:section name="Решение" id="{98199505-20e1-f311-8db2-1f2be0bc05e4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Результаты" id="{85c90f70-6dfa-d725-9d3f-ea354fda26e6}">
          <p14:sldIdLst>
            <p14:sldId id="267"/>
            <p14:sldId id="268"/>
          </p14:sldIdLst>
        </p14:section>
        <p14:section name="Дальше" id="{e19cbc98-9b59-3b98-12d8-42b5ed0c3b3f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+mn-lt"/>
              </a:rPr>
              <a:t>Каждая выборка прогнана один раз вслепую,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test · v1</c:v>
                  </c:pt>
                  <c:pt idx="1">
                    <c:v>holdout · v2</c:v>
                  </c:pt>
                  <c:pt idx="2">
                    <c:v>blind · v3</c:v>
                  </c:pt>
                  <c:pt idx="3">
                    <c:v>blind2 · v4</c:v>
                  </c:pt>
                  <c:pt idx="4">
                    <c:v>blind2 · v4 + модель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90.2</c:v>
                </c:pt>
                <c:pt idx="2">
                  <c:v>96.6</c:v>
                </c:pt>
                <c:pt idx="3">
                  <c:v>94.9</c:v>
                </c:pt>
                <c:pt idx="4">
                  <c:v>95.6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test · v1</c:v>
                  </c:pt>
                  <c:pt idx="1">
                    <c:v>holdout · v2</c:v>
                  </c:pt>
                  <c:pt idx="2">
                    <c:v>blind · v3</c:v>
                  </c:pt>
                  <c:pt idx="3">
                    <c:v>blind2 · v4</c:v>
                  </c:pt>
                  <c:pt idx="4">
                    <c:v>blind2 · v4 + модель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65.3</c:v>
                </c:pt>
                <c:pt idx="1">
                  <c:v>76.7</c:v>
                </c:pt>
                <c:pt idx="2">
                  <c:v>63.3</c:v>
                </c:pt>
                <c:pt idx="3">
                  <c:v>62.2</c:v>
                </c:pt>
                <c:pt idx="4">
                  <c:v>72.2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Ложные срабатывания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test · v1</c:v>
                  </c:pt>
                  <c:pt idx="1">
                    <c:v>holdout · v2</c:v>
                  </c:pt>
                  <c:pt idx="2">
                    <c:v>blind · v3</c:v>
                  </c:pt>
                  <c:pt idx="3">
                    <c:v>blind2 · v4</c:v>
                  </c:pt>
                  <c:pt idx="4">
                    <c:v>blind2 · v4 + модель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8.3</c:v>
                </c:pt>
                <c:pt idx="2">
                  <c:v>3.3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9E1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0:00–0:15. Мы SafeNet KZ — прототип, который решает все три трека хакатона одним движком: находит признаки платных розыгрышей, скрытой рекламы казино и пирамид, оценивает риск и объясняет каждое срабатывание. На слепой выборке — 95,6% точности при 5% ложных срабатываний.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0:15–0:40. Каждый трек прячется по-своему. Главная сложность хакатона — не пометить обычные конкурсы и легальную рекламу, и при этом снять маскировку: подмену символов, разрядку, транслит, эмодзи, казахский без казахской раскладки, числа прописью, текст внутри картинок.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0:40–1:05. Конвейер из пяти шагов. Ключевое: LLM и модель никогда не ставят балл — они только предлагают признак, и цитата обязана дословно встречаться в тексте. Балл — детерминированная формула, которую можно показать специалисту.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1:05–1:30. Пост на казахском: «Ұтыс ойыны! Қатысу ақылы — 500 тг, Kaspi-ге аударыңыз». Система показывает каждый признак с цитатой и вкладом, балл без каждого признака и формирует справку для специалиста.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1:30–1:50. Главная сложность трека розыгрышей — бесплатный конкурс. У нас гейты для каждого трека: без платного участия розыгрыш не поднимется выше 25, банковский депозит — не пирамида, новость о задержании — не реклама. Каждая поправка видна строкой.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1:50–2:10. Каждый шаблон проверяется на пяти видах текста. Аналитик видит не только признак, но и способ маскировки — «к@зино» помечено как подмена символов.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2:10–2:25. Информация часто прячется в картинках. Карточка «Вложи 10 000 — получи 30 000, 3% в день» распознаётся локальным OCR, и числовой анализ считает доходность ≈ 1000% годовых против 14–16% у банков.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2:25–2:45. Запись стрима: речь расшифровывается, с кадров читается текст, на изображении распознаётся интерфейс казино. У каждого признака видно, откуда он: «речь», «текст на изображении», «визуальные теги». Итог — 100 из 100, скрытое казино, промокод AZAMAT уходит в граф связей.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2:45–3:05. Одно сообщение редко доказывает схему — группа доказывает. Из экспорта Telegram или WhatsApp система находит организатора и кураторов как кандидатов, шаблонные отзывы о выплатах и самые рискованные сообщения.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3:05–3:20. Графовый анализ: аккаунты, которые раздают один промокод или собирают деньги на одну карту, объединяются в кампанию. Сообщества и центральные узлы считаются в Neo4j.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3:20–3:35. Аналитик может просто спросить: «сводка по @kurator_aigerim» — ассистент сам вызывает инструмент, достаёт факты из базы и открывает досье. Числа в ответе всегда из системы, а не из генерации.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3:35–4:05. Самое важное — честность. Каждую новую выборку мы прогоняли один раз вслепую; две последние написали независимые авторы, не видевшие правил. Главная цифра v4: 95,6% precision, 72,2% recall, 5% ложных. Слабое место — пирамиды на незнакомом стиле, план — дообучение на решениях аналитиков.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4:05–4:20. Масштаб: 20 тысяч постов проверяются за 42 секунды на одном процессе. Экран метрик показывает качество по каждому треку. Адаптация: система сама находит слова, которые часто встречаются в помеченном контенте, но ещё не покрыты методикой, и показывает, какие признаки аналитики отклоняют.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4:20–4:45. План: пилот на on-prem моделях и разметка решений аналитиков, затем обучение на этих решениях, затем потоковая обработка. Этика: только открытые и синтетические данные, маскирование, решение всегда за человеком.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4:45–5:00. SafeNet KZ: находим признаки схем раньше, чем пострадают люди. Все пять пунктов сдачи готовы. Спасибо — покажем демо.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N_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N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SafeNet KZ · признаки незаконных схем в соцсетях Казахстана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548640" y="56692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708660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61872" y="658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ХАКАТОН SAFENET KZ · ШЫМКЕНТ 2026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SafeNet KZ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688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Цифровой щит против незаконных схем в соцсетях и мессенджерах Казахстана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3520440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621024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35204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Платные розыгрыши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4069080"/>
            <a:ext cx="402336" cy="40233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169664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40690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Скрытое казино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48640" y="4617720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71830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461772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Финансовые пирамиды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5349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из 3</a:t>
            </a:r>
            <a:endParaRPr lang="en-US" sz="300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5897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трека одним движком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2331720" y="5349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95,6%</a:t>
            </a:r>
            <a:endParaRPr lang="en-US" sz="3000" dirty="0"/>
          </a:p>
        </p:txBody>
      </p:sp>
      <p:sp>
        <p:nvSpPr>
          <p:cNvPr id="19" name="Text 13"/>
          <p:cNvSpPr txBox="1"/>
          <p:nvPr/>
        </p:nvSpPr>
        <p:spPr>
          <a:xfrm>
            <a:off x="2331720" y="5897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precision вслепую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4114800" y="5349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5,0%</a:t>
            </a:r>
            <a:endParaRPr lang="en-US" sz="3000" dirty="0"/>
          </a:p>
        </p:txBody>
      </p:sp>
      <p:sp>
        <p:nvSpPr>
          <p:cNvPr id="21" name="Text 15"/>
          <p:cNvSpPr txBox="1"/>
          <p:nvPr/>
        </p:nvSpPr>
        <p:spPr>
          <a:xfrm>
            <a:off x="4114800" y="5897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ложных срабатываний</a:t>
            </a:r>
            <a:endParaRPr lang="en-US" sz="1200" dirty="0"/>
          </a:p>
        </p:txBody>
      </p:sp>
      <p:sp>
        <p:nvSpPr>
          <p:cNvPr id="22" name="Скриншот: обзор SafeNet KZ frame"/>
          <p:cNvSpPr/>
          <p:nvPr/>
        </p:nvSpPr>
        <p:spPr>
          <a:xfrm>
            <a:off x="5934456" y="1648206"/>
            <a:ext cx="5779008" cy="3653028"/>
          </a:xfrm>
          <a:prstGeom prst="roundRect">
            <a:avLst>
              <a:gd name="adj" fmla="val 2003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23" name="Скриншот: обзор SafeNet KZ" descr="Скриншот: обзор SafeNet KZ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1703070"/>
            <a:ext cx="5669280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Схемы меняют форму быстрее проверок</a:t>
            </a:r>
            <a:endParaRPr lang="en-US" sz="3600" dirty="0"/>
          </a:p>
        </p:txBody>
      </p:sp>
      <p:sp>
        <p:nvSpPr>
          <p:cNvPr id="3" name="Карточка: Платные розыгрыши"/>
          <p:cNvSpPr/>
          <p:nvPr/>
        </p:nvSpPr>
        <p:spPr>
          <a:xfrm>
            <a:off x="548640" y="132588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6962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Платные розыгрыши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«Номер = 1000 тг, оплата на Kaspi, крутим рандомайзер в эфире»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Выглядят как обычный конкурс — нужно отличить платное участие от бесплатного</a:t>
            </a:r>
            <a:endParaRPr lang="en-US" sz="1400" dirty="0"/>
          </a:p>
        </p:txBody>
      </p:sp>
      <p:sp>
        <p:nvSpPr>
          <p:cNvPr id="9" name="Карточка: Скрытое казино"/>
          <p:cNvSpPr/>
          <p:nvPr/>
        </p:nvSpPr>
        <p:spPr>
          <a:xfrm>
            <a:off x="4297680" y="132588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55448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732" y="169621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Скрытое казино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«Как я поднял 300к за вечер 🎰 промокод WIN500, ссылка в шапке»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Нативная реклама, стримы, промокоды, зеркала и каналы-прокладки</a:t>
            </a:r>
            <a:endParaRPr lang="en-US" sz="1400" dirty="0"/>
          </a:p>
        </p:txBody>
      </p:sp>
      <p:sp>
        <p:nvSpPr>
          <p:cNvPr id="15" name="Карточка: Финансовые пирамиды"/>
          <p:cNvSpPr/>
          <p:nvPr/>
        </p:nvSpPr>
        <p:spPr>
          <a:xfrm>
            <a:off x="8046720" y="132588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1554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2" y="169621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240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Финансовые пирамиды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«Вложи 5000 — получи 10 000! Пригласи друга — 10%»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Закрытые группы WhatsApp/Telegram, кураторы, «отзывы о выплатах»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Главная сложность — маскировка и смешение языков: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" y="5349240"/>
            <a:ext cx="830275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58368" y="5349240"/>
            <a:ext cx="610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к@зин0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1516075" y="5349240"/>
            <a:ext cx="1278331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1625803" y="5349240"/>
            <a:ext cx="10588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 А З И Н О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2931566" y="5349240"/>
            <a:ext cx="114300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3041294" y="5349240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🎰➡️💸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4211726" y="5349240"/>
            <a:ext cx="1726387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321454" y="5349240"/>
            <a:ext cx="15069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vlozhi … poluchi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6075274" y="5349240"/>
            <a:ext cx="1457554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185002" y="5349240"/>
            <a:ext cx="12380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тегін / тегин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7669987" y="5349240"/>
            <a:ext cx="1726387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7779715" y="5349240"/>
            <a:ext cx="15069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«двадцать тысяч»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9533534" y="5349240"/>
            <a:ext cx="1905610" cy="38404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9643262" y="5349240"/>
            <a:ext cx="16861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текст в скриншотах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Как работает SafeNet KZ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88720" y="160020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18059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Любой материал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461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пост, скриншот, эфир, видео, экспорт группы Telegram / WhatsApp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847088"/>
            <a:ext cx="329184" cy="3291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474720" y="160020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180594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83464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Снятие маскировки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2834640" y="32461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5 «видов» текста: символы, разрядка, транслит, эмодзи, числа прописью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847088"/>
            <a:ext cx="329184" cy="32918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760720" y="160020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460" y="1805940"/>
            <a:ext cx="411480" cy="41148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12064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Признаки</a:t>
            </a:r>
            <a:endParaRPr lang="en-US" sz="1800" dirty="0"/>
          </a:p>
        </p:txBody>
      </p:sp>
      <p:sp>
        <p:nvSpPr>
          <p:cNvPr id="16" name="Text 9"/>
          <p:cNvSpPr txBox="1"/>
          <p:nvPr/>
        </p:nvSpPr>
        <p:spPr>
          <a:xfrm>
            <a:off x="5120640" y="32461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словарь RU/KZ по 3 трекам, числовой анализ доходности, обучаемая модель</a:t>
            </a:r>
            <a:endParaRPr lang="en-US" sz="14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1847088"/>
            <a:ext cx="329184" cy="329184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046720" y="16002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460" y="1805940"/>
            <a:ext cx="411480" cy="41148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40664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Балл риска</a:t>
            </a:r>
            <a:endParaRPr lang="en-US" sz="1800" dirty="0"/>
          </a:p>
        </p:txBody>
      </p:sp>
      <p:sp>
        <p:nvSpPr>
          <p:cNvPr id="21" name="Text 12"/>
          <p:cNvSpPr txBox="1"/>
          <p:nvPr/>
        </p:nvSpPr>
        <p:spPr>
          <a:xfrm>
            <a:off x="7406640" y="32461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Σ вес × сила → гейты против ложных → низкий / средний / высокий</a:t>
            </a:r>
            <a:endParaRPr lang="en-US" sz="14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032" y="1847088"/>
            <a:ext cx="329184" cy="329184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10332720" y="160020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8460" y="1805940"/>
            <a:ext cx="411480" cy="41148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9692640" y="26060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Решение человека</a:t>
            </a:r>
            <a:endParaRPr lang="en-US" sz="1800" dirty="0"/>
          </a:p>
        </p:txBody>
      </p:sp>
      <p:sp>
        <p:nvSpPr>
          <p:cNvPr id="26" name="Text 15"/>
          <p:cNvSpPr txBox="1"/>
          <p:nvPr/>
        </p:nvSpPr>
        <p:spPr>
          <a:xfrm>
            <a:off x="9692640" y="32461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очередь «риск × охват», цитаты, справка, граф связей</a:t>
            </a:r>
            <a:endParaRPr lang="en-US" sz="1400" dirty="0"/>
          </a:p>
        </p:txBody>
      </p:sp>
      <p:sp>
        <p:nvSpPr>
          <p:cNvPr id="27" name="Принцип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17"/>
          <p:cNvSpPr/>
          <p:nvPr/>
        </p:nvSpPr>
        <p:spPr>
          <a:xfrm>
            <a:off x="777240" y="5074920"/>
            <a:ext cx="777240" cy="777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550" y="5269230"/>
            <a:ext cx="388620" cy="38862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1783080" y="50292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Признаки, а не вердикты.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LLM и модель только находят признаки с дословной цитатой — балл считает детерминированный движок, а законность проверяет специалист. Во внешние API уходит только синтетика; OCR и правила работают on-prem.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Каждое срабатывание объяснено</a:t>
            </a:r>
            <a:endParaRPr lang="en-US" sz="3600" dirty="0"/>
          </a:p>
        </p:txBody>
      </p:sp>
      <p:sp>
        <p:nvSpPr>
          <p:cNvPr id="3" name="Скриншот: разбор казахского поста frame"/>
          <p:cNvSpPr/>
          <p:nvPr/>
        </p:nvSpPr>
        <p:spPr>
          <a:xfrm>
            <a:off x="493776" y="1259586"/>
            <a:ext cx="7150608" cy="4887468"/>
          </a:xfrm>
          <a:prstGeom prst="roundRect">
            <a:avLst>
              <a:gd name="adj" fmla="val 1497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4" name="Скриншот: разбор казахского поста" descr="Скриншот: разбор казахского пост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14450"/>
            <a:ext cx="7040880" cy="47777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5087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32520" y="1353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Дословная цитата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732520" y="17190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«Қатысу ақылы», «кездейсоқ» — с источником: подпись, речь, скриншот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00100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69748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732520" y="25420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Вклад в балл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8732520" y="290779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+40 платное участие, +20 случайный выбор… Σ вкладов = итоговый балл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001000" y="3749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388620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32520" y="37307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«Что если»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8732520" y="409651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балл без каждого признака: видно, какой признак решающий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8001000" y="4937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5074920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732520" y="4919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Справка в PDF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8732520" y="52852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цитаты, SHA-256 материала, поле решения специалиста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Обычный конкурс не попадает в выборку</a:t>
            </a:r>
            <a:endParaRPr lang="en-US" sz="3600" dirty="0"/>
          </a:p>
        </p:txBody>
      </p:sp>
      <p:sp>
        <p:nvSpPr>
          <p:cNvPr id="3" name="Скриншот: бесплатный конкурс — низкий риск frame"/>
          <p:cNvSpPr/>
          <p:nvPr/>
        </p:nvSpPr>
        <p:spPr>
          <a:xfrm>
            <a:off x="493776" y="1249789"/>
            <a:ext cx="6419088" cy="3489742"/>
          </a:xfrm>
          <a:prstGeom prst="roundRect">
            <a:avLst>
              <a:gd name="adj" fmla="val 2096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4" name="Скриншот: бесплатный конкурс — низкий риск" descr="Скриншот: бесплатный конкурс — низкий рис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4653"/>
            <a:ext cx="6309360" cy="338001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9834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Бесплатный розыгрыш с рандомайзером: 12 из 100 — низкий риск. Гейт «нет платного участия» и механика «подписка + лайк» снижают балл, и это видно аналитику.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269480" y="1325880"/>
            <a:ext cx="434340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52360" y="1563624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183880" y="14538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Взнос без случайности и без перевода на карту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183880" y="19110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турнир, а не лотерея → ≤ 35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269480" y="2514600"/>
            <a:ext cx="434340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52360" y="2752344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88950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183880" y="264261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«Казино» без ссылки, промокода, призыва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183880" y="30998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новости и кино → ≤ 35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269480" y="3703320"/>
            <a:ext cx="434340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52360" y="3941064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407822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183880" y="38313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15% годовых, КФГД, «под 16%»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8183880" y="42885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банковский продукт, а не пирамида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7269480" y="4892040"/>
            <a:ext cx="434340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452360" y="5129784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5266944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183880" y="50200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Полиция, АФМ, «сақ болыңыз» без ссылки и карты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8183880" y="54772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предупреждение → ×0,4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Маскировка и казахский язык</a:t>
            </a:r>
            <a:endParaRPr lang="en-US" sz="3600" dirty="0"/>
          </a:p>
        </p:txBody>
      </p:sp>
      <p:sp>
        <p:nvSpPr>
          <p:cNvPr id="3" name="Скриншот: скрытое казино с обфускацией frame"/>
          <p:cNvSpPr/>
          <p:nvPr/>
        </p:nvSpPr>
        <p:spPr>
          <a:xfrm>
            <a:off x="493776" y="1225296"/>
            <a:ext cx="6106267" cy="4178808"/>
          </a:xfrm>
          <a:prstGeom prst="roundRect">
            <a:avLst>
              <a:gd name="adj" fmla="val 1751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4" name="Скриншот: скрытое казино с обфускацией" descr="Скриншот: скрытое казино с обфускацие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996539" cy="4069080"/>
          </a:xfrm>
          <a:prstGeom prst="rect">
            <a:avLst/>
          </a:prstGeom>
        </p:spPr>
      </p:pic>
      <p:sp>
        <p:nvSpPr>
          <p:cNvPr id="5" name="Скриншот: подсветка признаков в тексте frame"/>
          <p:cNvSpPr/>
          <p:nvPr/>
        </p:nvSpPr>
        <p:spPr>
          <a:xfrm>
            <a:off x="493776" y="5576860"/>
            <a:ext cx="6144768" cy="504879"/>
          </a:xfrm>
          <a:prstGeom prst="roundRect">
            <a:avLst>
              <a:gd name="adj" fmla="val 14489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6" name="Скриншот: подсветка признаков в тексте" descr="Скриншот: подсветка признаков в тексте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631724"/>
            <a:ext cx="6035040" cy="395151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325880"/>
          <a:ext cx="46634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9164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Приём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Пример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Система видит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Подмена символов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к@зин0, 3аработок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казино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Разрядка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 А З И Н 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казино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Латиница в кириллице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KAЗИНО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казино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Транслит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vlozhi … poluchi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вложи … получи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Эмодзи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💵➡️💵💵, 🎰➡️💸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×2, выигрыш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Числа прописью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двадцать тысяч, он мың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20 000, 10 000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Казахский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тегін / тегин, қ→к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одно правило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6949440" y="53492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Аналитик видит, как был скрыт признак: «скрыто подменой символов», «закодировано эмодзи».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Скриншоты: текст внутри картинок</a:t>
            </a:r>
            <a:endParaRPr lang="en-US" sz="3600" dirty="0"/>
          </a:p>
        </p:txBody>
      </p:sp>
      <p:sp>
        <p:nvSpPr>
          <p:cNvPr id="3" name="Исходный скриншот: карточка пирамиды frame"/>
          <p:cNvSpPr/>
          <p:nvPr/>
        </p:nvSpPr>
        <p:spPr>
          <a:xfrm>
            <a:off x="493776" y="1271016"/>
            <a:ext cx="3218688" cy="3218688"/>
          </a:xfrm>
          <a:prstGeom prst="roundRect">
            <a:avLst>
              <a:gd name="adj" fmla="val 2273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4" name="Исходный скриншот: карточка пирамиды" descr="Исходный скриншот: карточка пирамид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108960" cy="310896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697480"/>
            <a:ext cx="411480" cy="411480"/>
          </a:xfrm>
          <a:prstGeom prst="rect">
            <a:avLst/>
          </a:prstGeom>
        </p:spPr>
      </p:pic>
      <p:sp>
        <p:nvSpPr>
          <p:cNvPr id="6" name="Скриншот: результат OCR-анализа frame"/>
          <p:cNvSpPr/>
          <p:nvPr/>
        </p:nvSpPr>
        <p:spPr>
          <a:xfrm>
            <a:off x="4379976" y="1355312"/>
            <a:ext cx="7287768" cy="4147376"/>
          </a:xfrm>
          <a:prstGeom prst="roundRect">
            <a:avLst>
              <a:gd name="adj" fmla="val 1764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7" name="Скриншот: результат OCR-анализа" descr="Скриншот: результат OCR-анализ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410176"/>
            <a:ext cx="7178040" cy="403764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4789170"/>
            <a:ext cx="251460" cy="25146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88720" y="46268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Скриншоты</a:t>
            </a:r>
            <a:endParaRPr lang="en-US" sz="1500" dirty="0"/>
          </a:p>
        </p:txBody>
      </p:sp>
      <p:sp>
        <p:nvSpPr>
          <p:cNvPr id="11" name="Text 5"/>
          <p:cNvSpPr txBox="1"/>
          <p:nvPr/>
        </p:nvSpPr>
        <p:spPr>
          <a:xfrm>
            <a:off x="1188720" y="49377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OCR Tesseract rus + kaz + eng прямо в контейнере, без внешних API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548640" y="54406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5566410"/>
            <a:ext cx="251460" cy="25146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88720" y="54041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Числовой анализ</a:t>
            </a:r>
            <a:endParaRPr lang="en-US" sz="1500" dirty="0"/>
          </a:p>
        </p:txBody>
      </p:sp>
      <p:sp>
        <p:nvSpPr>
          <p:cNvPr id="15" name="Text 8"/>
          <p:cNvSpPr txBox="1"/>
          <p:nvPr/>
        </p:nvSpPr>
        <p:spPr>
          <a:xfrm>
            <a:off x="1188720" y="5715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«3% в день» → ≈ 1000% годовых против 14–16% у банков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Видео и эфиры: речь, кадры, смысл</a:t>
            </a:r>
            <a:endParaRPr lang="en-US" sz="3600" dirty="0"/>
          </a:p>
        </p:txBody>
      </p:sp>
      <p:sp>
        <p:nvSpPr>
          <p:cNvPr id="3" name="Скриншот: анализ записи эфира frame"/>
          <p:cNvSpPr/>
          <p:nvPr/>
        </p:nvSpPr>
        <p:spPr>
          <a:xfrm>
            <a:off x="493776" y="1229378"/>
            <a:ext cx="6784848" cy="3804884"/>
          </a:xfrm>
          <a:prstGeom prst="roundRect">
            <a:avLst>
              <a:gd name="adj" fmla="val 1923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4" name="Скриншот: анализ записи эфира" descr="Скриншот: анализ записи эфир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4242"/>
            <a:ext cx="6675120" cy="3695156"/>
          </a:xfrm>
          <a:prstGeom prst="rect">
            <a:avLst/>
          </a:prstGeom>
        </p:spPr>
      </p:pic>
      <p:sp>
        <p:nvSpPr>
          <p:cNvPr id="5" name="Скриншот: речь и текст с кадров с подсветкой frame"/>
          <p:cNvSpPr/>
          <p:nvPr/>
        </p:nvSpPr>
        <p:spPr>
          <a:xfrm>
            <a:off x="493776" y="5146140"/>
            <a:ext cx="6784848" cy="963984"/>
          </a:xfrm>
          <a:prstGeom prst="roundRect">
            <a:avLst>
              <a:gd name="adj" fmla="val 7589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6" name="Скриншот: речь и текст с кадров с подсветкой" descr="Скриншот: речь и текст с кадров с подсветко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201004"/>
            <a:ext cx="6675120" cy="854256"/>
          </a:xfrm>
          <a:prstGeom prst="rect">
            <a:avLst/>
          </a:prstGeom>
        </p:spPr>
      </p:pic>
      <p:sp>
        <p:nvSpPr>
          <p:cNvPr id="7" name="Кадр эфира с казино-игрой frame"/>
          <p:cNvSpPr/>
          <p:nvPr/>
        </p:nvSpPr>
        <p:spPr>
          <a:xfrm>
            <a:off x="7580376" y="1226725"/>
            <a:ext cx="4087368" cy="2347151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8" name="Кадр эфира с казино-игрой" descr="Кадр эфира с казино-игрой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281589"/>
            <a:ext cx="3977640" cy="2237423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635240" y="3794760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3904488"/>
            <a:ext cx="219456" cy="21945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229600" y="37673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Речь → текст</a:t>
            </a:r>
            <a:endParaRPr lang="en-US" sz="1400" dirty="0"/>
          </a:p>
        </p:txBody>
      </p:sp>
      <p:sp>
        <p:nvSpPr>
          <p:cNvPr id="12" name="Text 6"/>
          <p:cNvSpPr txBox="1"/>
          <p:nvPr/>
        </p:nvSpPr>
        <p:spPr>
          <a:xfrm>
            <a:off x="8229600" y="4023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«ставка», «lucky jet», «промокод»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7635240" y="4370832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4480560"/>
            <a:ext cx="219456" cy="21945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229600" y="4343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Кадры → OCR</a:t>
            </a:r>
            <a:endParaRPr lang="en-US" sz="1400" dirty="0"/>
          </a:p>
        </p:txBody>
      </p:sp>
      <p:sp>
        <p:nvSpPr>
          <p:cNvPr id="16" name="Text 9"/>
          <p:cNvSpPr txBox="1"/>
          <p:nvPr/>
        </p:nvSpPr>
        <p:spPr>
          <a:xfrm>
            <a:off x="8229600" y="4599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«LIVE», «x50 ЗАНОС!» прямо с экрана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7635240" y="4946904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68" y="5056632"/>
            <a:ext cx="219456" cy="21945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229600" y="4919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Визуальные теги</a:t>
            </a:r>
            <a:endParaRPr lang="en-US" sz="1400" dirty="0"/>
          </a:p>
        </p:txBody>
      </p:sp>
      <p:sp>
        <p:nvSpPr>
          <p:cNvPr id="20" name="Text 12"/>
          <p:cNvSpPr txBox="1"/>
          <p:nvPr/>
        </p:nvSpPr>
        <p:spPr>
          <a:xfrm>
            <a:off x="8229600" y="51755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интерфейс казино на кадре → +15</a:t>
            </a:r>
            <a:endParaRPr lang="en-US" sz="1200" dirty="0"/>
          </a:p>
        </p:txBody>
      </p:sp>
      <p:sp>
        <p:nvSpPr>
          <p:cNvPr id="21" name="Shape 13"/>
          <p:cNvSpPr/>
          <p:nvPr/>
        </p:nvSpPr>
        <p:spPr>
          <a:xfrm>
            <a:off x="7635240" y="5522976"/>
            <a:ext cx="438912" cy="43891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5632704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8229600" y="54955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Смысловой анализ</a:t>
            </a:r>
            <a:endParaRPr lang="en-US" sz="1400" dirty="0"/>
          </a:p>
        </p:txBody>
      </p:sp>
      <p:sp>
        <p:nvSpPr>
          <p:cNvPr id="24" name="Text 15"/>
          <p:cNvSpPr txBox="1"/>
          <p:nvPr/>
        </p:nvSpPr>
        <p:spPr>
          <a:xfrm>
            <a:off x="8229600" y="57515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«…давай давай занос…» — цитата дословно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Группа целиком: роли и прогрев</a:t>
            </a:r>
            <a:endParaRPr lang="en-US" sz="3600" dirty="0"/>
          </a:p>
        </p:txBody>
      </p:sp>
      <p:sp>
        <p:nvSpPr>
          <p:cNvPr id="3" name="Скриншот: риск Telegram-группы frame"/>
          <p:cNvSpPr/>
          <p:nvPr/>
        </p:nvSpPr>
        <p:spPr>
          <a:xfrm>
            <a:off x="493776" y="1239447"/>
            <a:ext cx="6053328" cy="3647585"/>
          </a:xfrm>
          <a:prstGeom prst="roundRect">
            <a:avLst>
              <a:gd name="adj" fmla="val 2005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4" name="Скриншот: риск Telegram-группы" descr="Скриншот: риск Telegram-групп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94311"/>
            <a:ext cx="5943600" cy="3537857"/>
          </a:xfrm>
          <a:prstGeom prst="rect">
            <a:avLst/>
          </a:prstGeom>
        </p:spPr>
      </p:pic>
      <p:sp>
        <p:nvSpPr>
          <p:cNvPr id="5" name="Скриншот: структура группы frame"/>
          <p:cNvSpPr/>
          <p:nvPr/>
        </p:nvSpPr>
        <p:spPr>
          <a:xfrm>
            <a:off x="6757416" y="1413891"/>
            <a:ext cx="4910328" cy="3298698"/>
          </a:xfrm>
          <a:prstGeom prst="roundRect">
            <a:avLst>
              <a:gd name="adj" fmla="val 2218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6" name="Скриншот: структура группы" descr="Скриншот: структура группы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468755"/>
            <a:ext cx="4800600" cy="318897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074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669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сообщения Telegram-экспорта → риск 100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297680" y="5074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+ 2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4297680" y="5669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организатор и кураторы (кандидаты)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046720" y="5074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8046720" y="5669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одинаковых «выплата пришла 🙏» от разных людей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Кампании: от постов к схеме</a:t>
            </a:r>
            <a:endParaRPr lang="en-US" sz="3600" dirty="0"/>
          </a:p>
        </p:txBody>
      </p:sp>
      <p:sp>
        <p:nvSpPr>
          <p:cNvPr id="3" name="Скриншот: кампания из 5 аккаунтов frame"/>
          <p:cNvSpPr/>
          <p:nvPr/>
        </p:nvSpPr>
        <p:spPr>
          <a:xfrm>
            <a:off x="493776" y="1276187"/>
            <a:ext cx="6053328" cy="3116907"/>
          </a:xfrm>
          <a:prstGeom prst="roundRect">
            <a:avLst>
              <a:gd name="adj" fmla="val 2347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4" name="Скриншот: кампания из 5 аккаунтов" descr="Скриншот: кампания из 5 аккаунтов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31051"/>
            <a:ext cx="5943600" cy="3007179"/>
          </a:xfrm>
          <a:prstGeom prst="rect">
            <a:avLst/>
          </a:prstGeom>
        </p:spPr>
      </p:pic>
      <p:sp>
        <p:nvSpPr>
          <p:cNvPr id="5" name="Скриншот: граф связей frame"/>
          <p:cNvSpPr/>
          <p:nvPr/>
        </p:nvSpPr>
        <p:spPr>
          <a:xfrm>
            <a:off x="6757416" y="1486757"/>
            <a:ext cx="4910328" cy="2695766"/>
          </a:xfrm>
          <a:prstGeom prst="roundRect">
            <a:avLst>
              <a:gd name="adj" fmla="val 2714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6" name="Скриншот: граф связей" descr="Скриншот: граф связей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541621"/>
            <a:ext cx="4800600" cy="25860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00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377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34440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Один промокод SHYM777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1234440" y="5120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связал 5 казино-аккаунтов на 4 платформах, охват 2,3 млн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4297680" y="4800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9377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983480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Одна Kaspi-карта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4983480" y="5120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связала кураторов пирамиды и Telegram-группу в сеть из 16 объектов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8046720" y="4800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493776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732520" y="4754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Приоритет = риск × охват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8732520" y="51206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аналитик открывает самую крупную схему первой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AI-ассистент аналитика</a:t>
            </a:r>
            <a:endParaRPr lang="en-US" sz="3600" dirty="0"/>
          </a:p>
        </p:txBody>
      </p:sp>
      <p:sp>
        <p:nvSpPr>
          <p:cNvPr id="3" name="Скриншот: AI-ассистент frame"/>
          <p:cNvSpPr/>
          <p:nvPr/>
        </p:nvSpPr>
        <p:spPr>
          <a:xfrm>
            <a:off x="610414" y="1225296"/>
            <a:ext cx="3716932" cy="4956048"/>
          </a:xfrm>
          <a:prstGeom prst="roundRect">
            <a:avLst>
              <a:gd name="adj" fmla="val 1968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4" name="Скриншот: AI-ассистент" descr="Скриншот: AI-ассистен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278" y="1280160"/>
            <a:ext cx="3607204" cy="4846320"/>
          </a:xfrm>
          <a:prstGeom prst="rect">
            <a:avLst/>
          </a:prstGeom>
        </p:spPr>
      </p:pic>
      <p:sp>
        <p:nvSpPr>
          <p:cNvPr id="5" name="Возможность: Очередь по команде"/>
          <p:cNvSpPr/>
          <p:nvPr/>
        </p:nvSpPr>
        <p:spPr>
          <a:xfrm>
            <a:off x="4846320" y="1325880"/>
            <a:ext cx="3246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74920" y="15544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650" y="168021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74920" y="21305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Очередь по команде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074920" y="24414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«топ материалов» — по приоритету риск × охват</a:t>
            </a:r>
            <a:endParaRPr lang="en-US" sz="1200" dirty="0"/>
          </a:p>
        </p:txBody>
      </p:sp>
      <p:sp>
        <p:nvSpPr>
          <p:cNvPr id="10" name="Возможность: Сводка по аккаунту"/>
          <p:cNvSpPr/>
          <p:nvPr/>
        </p:nvSpPr>
        <p:spPr>
          <a:xfrm>
            <a:off x="8275320" y="1325880"/>
            <a:ext cx="3246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503920" y="15544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168021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503920" y="21305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Сводка по аккаунту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8503920" y="24414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материалы, максимальный риск, треки, охват и переход в досье</a:t>
            </a:r>
            <a:endParaRPr lang="en-US" sz="1200" dirty="0"/>
          </a:p>
        </p:txBody>
      </p:sp>
      <p:sp>
        <p:nvSpPr>
          <p:cNvPr id="15" name="Возможность: Навигация по запросу"/>
          <p:cNvSpPr/>
          <p:nvPr/>
        </p:nvSpPr>
        <p:spPr>
          <a:xfrm>
            <a:off x="4846320" y="3108960"/>
            <a:ext cx="3246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074920" y="33375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0" y="346329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074920" y="39136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Навигация по запросу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074920" y="4224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«открой граф по @…», «покажи кампании»</a:t>
            </a:r>
            <a:endParaRPr lang="en-US" sz="1200" dirty="0"/>
          </a:p>
        </p:txBody>
      </p:sp>
      <p:sp>
        <p:nvSpPr>
          <p:cNvPr id="20" name="Возможность: Объяснение методики"/>
          <p:cNvSpPr/>
          <p:nvPr/>
        </p:nvSpPr>
        <p:spPr>
          <a:xfrm>
            <a:off x="8275320" y="3108960"/>
            <a:ext cx="324612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503920" y="33375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650" y="3463290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503920" y="39136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Объяснение методики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8503920" y="4224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как считается балл и почему сработал признак</a:t>
            </a:r>
            <a:endParaRPr lang="en-US" sz="1200" dirty="0"/>
          </a:p>
        </p:txBody>
      </p:sp>
      <p:sp>
        <p:nvSpPr>
          <p:cNvPr id="25" name="Принцип ассистента"/>
          <p:cNvSpPr/>
          <p:nvPr/>
        </p:nvSpPr>
        <p:spPr>
          <a:xfrm>
            <a:off x="4846320" y="4983480"/>
            <a:ext cx="667512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5074920" y="5230368"/>
            <a:ext cx="603504" cy="6035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5796" y="5381244"/>
            <a:ext cx="301752" cy="30175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897880" y="5074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Цифры — только из базы.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Модель выбирает инструмент, а ответ собирается из данных системы: ассистент не придумывает числа и не ставит балл.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Честные метрики вслепую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2237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83880" y="132588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95,6%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183880" y="20116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precision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251460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72,2%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3200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recall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37033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4389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ложных срабатываний</a:t>
            </a:r>
            <a:endParaRPr lang="en-US" sz="1400" dirty="0"/>
          </a:p>
        </p:txBody>
      </p:sp>
      <p:sp>
        <p:nvSpPr>
          <p:cNvPr id="10" name="Протокол"/>
          <p:cNvSpPr/>
          <p:nvPr/>
        </p:nvSpPr>
        <p:spPr>
          <a:xfrm>
            <a:off x="8183880" y="4937760"/>
            <a:ext cx="34290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39328" y="50292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blind2: 150 примеров, независимый автор, не видевший правил. Числа прописью, эфиры, OCR, казахские чаты. Без LLM.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Масштаб и контроль качества</a:t>
            </a:r>
            <a:endParaRPr lang="en-US" sz="3600" dirty="0"/>
          </a:p>
        </p:txBody>
      </p:sp>
      <p:sp>
        <p:nvSpPr>
          <p:cNvPr id="3" name="Скриншот: массовая проверка frame"/>
          <p:cNvSpPr/>
          <p:nvPr/>
        </p:nvSpPr>
        <p:spPr>
          <a:xfrm>
            <a:off x="493776" y="1225296"/>
            <a:ext cx="5271333" cy="3950208"/>
          </a:xfrm>
          <a:prstGeom prst="roundRect">
            <a:avLst>
              <a:gd name="adj" fmla="val 1852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4" name="Скриншот: массовая проверка" descr="Скриншот: массовая провер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161605" cy="3840480"/>
          </a:xfrm>
          <a:prstGeom prst="rect">
            <a:avLst/>
          </a:prstGeom>
        </p:spPr>
      </p:pic>
      <p:sp>
        <p:nvSpPr>
          <p:cNvPr id="5" name="Скриншот: метрики по трекам frame"/>
          <p:cNvSpPr/>
          <p:nvPr/>
        </p:nvSpPr>
        <p:spPr>
          <a:xfrm>
            <a:off x="6117336" y="1225296"/>
            <a:ext cx="5550408" cy="3218688"/>
          </a:xfrm>
          <a:prstGeom prst="roundRect">
            <a:avLst>
              <a:gd name="adj" fmla="val 2273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6" name="Скриншот: метрики по трекам" descr="Скриншот: метрики по трекам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80160"/>
            <a:ext cx="5440680" cy="31089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349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20 000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852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постов за 42 секунды, без LLM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297680" y="5349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~480/с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4297680" y="5852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на один процесс, Celery масштабирует воркеры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046720" y="5349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Адаптация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8046720" y="5852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новые слова из помеченного → в методику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План внедрения и этика</a:t>
            </a:r>
            <a:endParaRPr lang="en-US" sz="3600" dirty="0"/>
          </a:p>
        </p:txBody>
      </p:sp>
      <p:sp>
        <p:nvSpPr>
          <p:cNvPr id="3" name="Этап: 1–2 мес · пилот"/>
          <p:cNvSpPr/>
          <p:nvPr/>
        </p:nvSpPr>
        <p:spPr>
          <a:xfrm>
            <a:off x="548640" y="1325880"/>
            <a:ext cx="352044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6962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276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1–2 мес · пилот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on-prem модели (vLLM, Whisper)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разметка решений аналитиков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публичные Telegram / Instagram / TikTok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реестры лицензий</a:t>
            </a:r>
            <a:endParaRPr lang="en-US" sz="1400" dirty="0"/>
          </a:p>
        </p:txBody>
      </p:sp>
      <p:sp>
        <p:nvSpPr>
          <p:cNvPr id="8" name="Этап: 2–4 мес · качество"/>
          <p:cNvSpPr/>
          <p:nvPr/>
        </p:nvSpPr>
        <p:spPr>
          <a:xfrm>
            <a:off x="4297680" y="1325880"/>
            <a:ext cx="352044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5544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732" y="16962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03520" y="16276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2–4 мес · качество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3317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обучение на решениях из очереди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многоязычные эмбеддинги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детектор экранов казино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разворот коротких ссылок</a:t>
            </a:r>
            <a:endParaRPr lang="en-US" sz="1400" dirty="0"/>
          </a:p>
        </p:txBody>
      </p:sp>
      <p:sp>
        <p:nvSpPr>
          <p:cNvPr id="13" name="Этап: 4–6 мес · масштаб"/>
          <p:cNvSpPr/>
          <p:nvPr/>
        </p:nvSpPr>
        <p:spPr>
          <a:xfrm>
            <a:off x="8046720" y="1325880"/>
            <a:ext cx="352044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21040" y="155448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2" y="169621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52560" y="16276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4–6 мес · масштаб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3317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потоковая обработка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GPU-пул по приоритету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обмен с профильными ведомствами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аналитические справки по API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02920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34440" y="4892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Только открытые и синтетические данные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4297680" y="48920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502920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983480" y="4892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Карты маскируются, роли — кандидаты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8046720" y="48920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3880" y="502920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732520" y="4892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Решение всегда за человеком, журнал аудита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Система не содержит функций, помогающих организовывать схемы — только находит признаки и объясняет их.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"/>
          <p:cNvSpPr/>
          <p:nvPr/>
        </p:nvSpPr>
        <p:spPr>
          <a:xfrm>
            <a:off x="548640" y="7315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902970"/>
            <a:ext cx="342900" cy="3429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9164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Находим признаки схем раньше, чем пострадают люди</a:t>
            </a:r>
            <a:endParaRPr lang="en-US" sz="4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58184"/>
            <a:ext cx="274320" cy="274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60120" y="37033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Прототип: 3 трека, RU / KZ / транслит, скриншоты, видео, группы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06824"/>
            <a:ext cx="274320" cy="2743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960120" y="42519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Методика: признаки, веса, гейты — экран «Метрики и методика»</a:t>
            </a:r>
            <a:endParaRPr lang="en-US" sz="16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855464"/>
            <a:ext cx="274320" cy="27432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960120" y="480060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Метрики вслепую: precision 95,6%, recall 72,2%, ложных 5,0%</a:t>
            </a:r>
            <a:endParaRPr lang="en-US" sz="16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404104"/>
            <a:ext cx="274320" cy="27432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960120" y="534924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План внедрения: пилот → качество → масштаб</a:t>
            </a:r>
            <a:endParaRPr lang="en-US" sz="1600" dirty="0"/>
          </a:p>
        </p:txBody>
      </p:sp>
      <p:sp>
        <p:nvSpPr>
          <p:cNvPr id="13" name="Скриншот: интерфейс SafeNet KZ frame"/>
          <p:cNvSpPr/>
          <p:nvPr/>
        </p:nvSpPr>
        <p:spPr>
          <a:xfrm>
            <a:off x="7534656" y="2177840"/>
            <a:ext cx="4178808" cy="2593759"/>
          </a:xfrm>
          <a:prstGeom prst="roundRect">
            <a:avLst>
              <a:gd name="adj" fmla="val 2820"/>
            </a:avLst>
          </a:prstGeom>
          <a:solidFill>
            <a:schemeClr val="bg1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177800" dist="50800" dir="5400000">
              <a:srgbClr val="0F172A">
                <a:alpha val="18000"/>
              </a:srgbClr>
            </a:outerShdw>
          </a:effectLst>
        </p:spPr>
      </p:sp>
      <p:pic>
        <p:nvPicPr>
          <p:cNvPr id="14" name="Скриншот: интерфейс SafeNet KZ" descr="Скриншот: интерфейс SafeNet KZ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2232704"/>
            <a:ext cx="4069080" cy="2484031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548640" y="60350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Спасибо! Готовы показать демо вживую.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Net KZ">
  <a:themeElements>
    <a:clrScheme name="SafeNet KZ">
      <a:dk1>
        <a:srgbClr val="0F172A"/>
      </a:dk1>
      <a:lt1>
        <a:srgbClr val="FFFFFF"/>
      </a:lt1>
      <a:dk2>
        <a:srgbClr val="475569"/>
      </a:dk2>
      <a:lt2>
        <a:srgbClr val="F1F5F9"/>
      </a:lt2>
      <a:accent1>
        <a:srgbClr val="C8102E"/>
      </a:accent1>
      <a:accent2>
        <a:srgbClr val="0284C7"/>
      </a:accent2>
      <a:accent3>
        <a:srgbClr val="7C3AED"/>
      </a:accent3>
      <a:accent4>
        <a:srgbClr val="DB2777"/>
      </a:accent4>
      <a:accent5>
        <a:srgbClr val="059669"/>
      </a:accent5>
      <a:accent6>
        <a:srgbClr val="D97706"/>
      </a:accent6>
      <a:hlink>
        <a:srgbClr val="0284C7"/>
      </a:hlink>
      <a:folHlink>
        <a:srgbClr val="7C3AED"/>
      </a:folHlink>
    </a:clrScheme>
    <a:fontScheme name="SafeNet KZ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SafeNet KZ — цифровой щит</dc:title>
  <dc:subject>Хакатон SafeNet KZ, Шымкент 2026</dc:subject>
  <dc:creator>Команда SafeNet KZ</dc:creator>
  <cp:lastModifiedBy>Команда SafeNet KZ</cp:lastModifiedBy>
  <cp:revision>1</cp:revision>
  <dcterms:created xsi:type="dcterms:W3CDTF">2026-10-25T16:46:06Z</dcterms:created>
  <dcterms:modified xsi:type="dcterms:W3CDTF">2026-10-25T16:46:06Z</dcterms:modified>
</cp:coreProperties>
</file>